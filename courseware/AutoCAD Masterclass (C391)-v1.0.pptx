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  <p:sldId id="268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71" r:id="rId1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9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22" Type="http://schemas.openxmlformats.org/officeDocument/2006/relationships/slide" Target="slides/slide1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646920" y="658368"/>
            <a:ext cx="1828800" cy="914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786384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AutoCAD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20700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AUTODESK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NON-WSQ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AutoCAD Masterclass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977639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C391</a:t>
            </a:r>
          </a:p>
          <a:p>
            <a:r>
              <a:rPr sz="1600" b="0"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1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Trainer Profile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SPECIALISATION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CAD, technical drawing and engineering design — AutoCAD, Revit and Fusion 360.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Courses on technical drawing, design and emerging technologies.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CAD, drafting or design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want to be able to draw or document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stupid.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one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Attend both days in full.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Log in to the LMS/TMS portal with the account created at registration.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Portal: https://lms-tms.tertiaryinfotech.com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Open your course → Course Materials to download the slides and Learner Guide.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Keep them handy — refer to the slides and Learner Guide during the labs.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82904" y="1874520"/>
            <a:ext cx="3464991" cy="4160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1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624" y="1920240"/>
            <a:ext cx="3373551" cy="40690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7.5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AutoCAD Foundations, Drawing &amp; Modifying Objects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Welcome · introductions · course overview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Getting Started with AutoCAD (Lab 1)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Technical Drawing with AutoCAD (Labs 2–5)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Modifying Objects (Labs 6–8)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Organizing Objects &amp; Design Documentation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Organizing Objects (Labs 9–12)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Design Documentation (Labs 13–16)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Course summary &amp; feedback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Daily timing: 9:30am–5:30pm · 30-min lunch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FIVE TOPICS · 16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1: Getting Started with AutoCAD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AutoCAD user interface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Workspace settings, navigation and units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2: Technical Drawing with AutoCAD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Basic AutoCAD operations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Drawing objects and isometric drawing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3: Modifying Objects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Working with modifiers: move, copy, trim, arrays…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4: Organizing Objects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Object properties and layers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Blocks, attributes and reusable content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Topic 5: Design Documentation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Text, dimensions and part-list tables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Layouts, printing and outputs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Annotative techniques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Technical Drawing &amp; CAD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STANDARDS, CONVENTIONS &amp;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Technical Drawing?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Precise 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technical drawing communicates a design's exact geometry, sizes and finishes for manufacture or construction.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Standards-based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Symbols, line conventions, projections and dimensioning follow standards (ISO/ANSI) so any reader interprets it the same way.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Types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Orthographic multi-view, isometric/pictorial, section, detail and assembly drawings — each answers a different question.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CAD advantage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AutoCAD makes drawings precise, editable, layered, reusable and printable at any scale.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Technical Drawing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Set up &amp; draw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Template, units and limits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Precision aids: snap, ortho, polar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Draw geometry at 1:1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Organise &amp; refine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Layers, properties, blocks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Modify: trim, fillet, array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Attributes for part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Document &amp; publish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Dimensions, text and tables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Layouts with scaled viewports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Plot to PDF for 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Getting Started with AutoCAD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AutoCAD User Interface · Workspace Settings · Navigation ·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Getting Started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User interface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Application menu, Quick Access Toolbar, ribbon tabs and panels, drawing area, command window and status bar.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Workspaces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Drafting &amp; Annotation, 3D Basics and 3D Modeling — task-oriented sets of ribbons, menus and palettes.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vs paper space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 at 1:1 in model space; compose scaled drawing sheets in paper-space layouts.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Precision aids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Grid and snap, ortho mode, polar tracking, object snaps and dynamic input keep every pick exact.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Navigation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Zoom, pan, ViewCube and the wheel mouse move you around a drawing without changing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Units and 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UNITS sets the length/angle format and precision; LIMITS frames the working area of the drawing.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AutoCAD User Interface — Application Menu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Application button opens the file-level menu: create, open and save drawings.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Audit, recover and purge a drawing file when it needs repair or cleanup.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Print or publish a file, and access the Options dialog for system settings.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Recent documents are listed for quick reopening.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572403"/>
            <a:ext cx="4846320" cy="276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1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18123"/>
            <a:ext cx="4754880" cy="26733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Starting a New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Start New Drawing creates a file from the default drawing template (DWT).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Metric drawings use acadiso.dwt; imperial drawings use acad.dwt.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default template is set in the Options dialog.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Templates carry units, styles, layers and title blocks — start right, draw less.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572403"/>
            <a:ext cx="4846320" cy="276475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1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18123"/>
            <a:ext cx="4754880" cy="26733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Ribbon Tabs and Panels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ribbon organises tools into tabs (Home, Insert, Annotate, View, Output…).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tab is a set of panels — Draw, Modify, Layers, Annotation and more.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Panels expand to reveal less-used tools; pin them open while learning.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Most course commands live on the Home tab's Draw and Modify panels.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745467"/>
            <a:ext cx="4846320" cy="2418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91187"/>
            <a:ext cx="4754880" cy="23271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Status Bar — Precision Drafting Aids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status bar toggles grid, snap, ortho, polar tracking and object snap.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Ortho constrains the cursor to horizontal/vertical; Polar tracks set angles.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2D object snap picks exact endpoints, midpoints, centres and intersections.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Function keys mirror the toggles: F7 grid · F8 ortho · F9 snap · F10 polar · F3 osnap.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869043"/>
            <a:ext cx="4846320" cy="217147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14763"/>
            <a:ext cx="4754880" cy="20800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USER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Dynamic Input and the Command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Dynamic input places a command interface beside the cursor as you draw.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Tooltips show prompts, dimensions and coordinate entry at the crosshair.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command window (Ctrl+9) accepts commands and shows every prompt.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Watch the prompts — AutoCAD always tells you what it expects next.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08864"/>
            <a:ext cx="4846320" cy="1891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054584"/>
            <a:ext cx="4754880" cy="18003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Space and Paper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Model space is where you design — always draw at 1:1 real-world size.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Paper space (layouts) is where you compose scaled sheets for printing.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UCS icon shows the origin and orientation of the coordinate system.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Switch between them with the Model and Layout tabs below the drawing area.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05633"/>
            <a:ext cx="4846320" cy="189829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051353"/>
            <a:ext cx="4754880" cy="18068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Workspaces and the Quick Access Toolbar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Workspaces group menus, toolbars and ribbons for a task: Drafting &amp; Annotation, 3D Basics, 3D Modeling.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course uses Drafting &amp; Annotation throughout.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Quick Access Toolbar sits top-left: New, Open, Save, Undo, Plot.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Right-click any ribbon tool → Add to Quick Access Toolbar to customise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800466"/>
            <a:ext cx="4846320" cy="3086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2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846186"/>
            <a:ext cx="4754880" cy="2171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Navigation — Zoom, Pan and the Wheel Mouse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navigation bar provides Pan and the full set of Zoom tools.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ZOOM (Z): Window, All, Extents, Previous, Scale, Object — know them all.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Wheel mouse: scroll to zoom, press to pan, double-click to zoom extents.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Navigation changes your view only — it never moves the geometry.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481121"/>
            <a:ext cx="4846320" cy="9473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3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526841"/>
            <a:ext cx="4754880" cy="8558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ViewCube and 2D/3D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ViewCube switches between standard and isometric views of the model.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Click a face, edge or corner to jump to that view; drag to orbit freely.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Set Current View as Home to return to a saved orientation.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 2D drafting you will mostly stay on the Top 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35140" y="1874520"/>
            <a:ext cx="4160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iewcube-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0" y="1920240"/>
            <a:ext cx="4069080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Drawing Units and Converting Units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UNITS sets the length type (Decimal, Architectural, Engineering…) and precision.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Angles default to decimal degrees measured anticlockwise from east.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course draws in millimetres with decimal units.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To convert a drawing's scale: SCALE → All → base 0,0 → factor (e.g. 25.4).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9370" y="1874520"/>
            <a:ext cx="3552059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36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090" y="1920240"/>
            <a:ext cx="3460619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Setting Up a New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and verify a metric drawing environment, compare saved workspace and drafting-setting examples, then open a finished drawing and practise reading it with zoom, pan and ViewCube.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correctly configured metric drawing saved as DWG, a settings audit, and confident navigation of an existing technical drawing.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ACADISO template, UNITS, LIMITS, DSETTINGS, WSCURRENT, ZOOM, PAN, ViewCube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lab01-table.dwg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Setting Up a New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INSUNITS reports millimetres, limits are 420 × 297, Drafting &amp; Annotation is current, the precision-aid audit is complete, and lab01-setup.dwg reopens with the settings intact.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Getting Started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 — Setting Up a New Drawing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correctly configured metric drawing saved as DWG, a settings audit, and confident navigation of an existing technical drawing.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Technical Drawing with AutoCAD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Basic AutoCAD Operations · Drawing Objects · Isometric Drawing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Technical Drawing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Lines &amp; polylines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LINE draws separate segments; PLINE creates one connected object of line and arc segments.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Circles &amp; arcs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Circles by centre/radius or diameter; arcs by combinations of start, centre, end, radius and angle.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Rectangles &amp; polygons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RECTANG builds closed rectangular polylines; POLYGON draws 3–1024-sided regular polygons.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Ellipses, splines &amp; points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Ellipses from axis endpoints; splines as smooth curves through fit points; points as snap nodes.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Construction geometry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Construction lines (XLINE) and rays give infinite reference lines for projecting views.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2D isometric drawing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ISODRAFT turns on isometric planes so a flat drawing represents a 3D projection.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LINE draws straight segments between picked or typed points.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Specify the first point, then each next point; every segment is a separate object.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Combine with object snaps and grid snap for exact geometry.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Coordinate entry: absolute (100,50) · relative (@50,0) · polar (@50&lt;30).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234575"/>
            <a:ext cx="4846320" cy="144040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4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280295"/>
            <a:ext cx="4754880" cy="13489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Circles and Rectangles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CIRCLE: centre + radius or diameter; 2P/3P through points; TTR tangent-tangent-radius.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RECTANG creates a closed rectangular polyline from two corners.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Rectangle options add chamfered or filleted corners and a set width.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dimensions option (@length,width) for exact rectangle sizes.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571750"/>
            <a:ext cx="4846320" cy="27660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4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617470"/>
            <a:ext cx="4754880" cy="26746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Polygons and Ellipses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POLYGON draws regular polygons of 3–1024 sides.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Inscribed polygons fit inside the reference circle; circumscribed fit outside.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ELLIPSE uses two axis endpoints then the half-width of the other axis.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 elliptical arc is an ellipse with start and end angles.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55540" y="1874520"/>
            <a:ext cx="35197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4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260" y="1920240"/>
            <a:ext cx="3428280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DRAWING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Arcs, Polylines and Splines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ARC draws by combinations of start, centre, end, radius, angle and direction.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PLINE creates one object of connected line and arc segments — switch modes as you draw.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SPLINE fits a smooth curve through or near a set of fit points.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Closed polylines are the basis for hatching, areas and 3D operations.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1054" y="1874520"/>
            <a:ext cx="438869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4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774" y="1920240"/>
            <a:ext cx="4297252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CONSTRUCTION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Points, Construction Lines and 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POINT places node objects; PDMODE and PDSIZE control how they display.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Points act as snap nodes — DIVIDE and MEASURE place them along objects.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XLINE creates infinite construction lines for projecting between views.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RAY starts at a point and extends infinitely in one direction.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80127" y="1874520"/>
            <a:ext cx="4470545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5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847" y="1920240"/>
            <a:ext cx="4379105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ISOMETRIC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2D Isometric Drawing with ISODRAFT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2D isometric drawing is a flat representation of a 3D isometric projection.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ISODRAFT switches the crosshairs to the isometric axes (30°/90°/150°).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F5 cycles the three isoplanes: Top, Right and Left.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Isocircles (ELLIPSE → Isocircle) draw round features on the active isoplane.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95218" y="1874520"/>
            <a:ext cx="4640364" cy="4160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77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938" y="1920240"/>
            <a:ext cx="4548924" cy="40690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Technical Drawing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Creating Lines and Coordinates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Circles, Rectangles and Polygons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Polylines, Arcs, Ellipses and Splines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2D Isometric Drawing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Lines and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Draw the outline of practice drawing EX-1 using the LINE and PLINE commands with absolute, relative and polar coordinate entry, working from its dimensioned drawing sheet.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394771"/>
            <a:ext cx="4023360" cy="26628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40491"/>
            <a:ext cx="3931920" cy="257137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EX-1 profile drawn to size, matching the supplied solution DWG.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LINE, PLINE, coordinate entry (@dx,dy · @dist&lt;angle), ORTHO, dynamic input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ex1.dwg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Creating Lines and Coordinates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outline closes exactly (LIST shows the final vertex at 0,0) and overlays the solution ex1.dwg with no visible deviation.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Circles, Rectangles and Polygons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Complete practice drawing EX-2 by adding circles (centre-radius, diameter, 2P/3P and Tan-Tan-Radius), a rectangle with chamfered/filleted corners and inscribed/circumscribed polygons.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030262"/>
            <a:ext cx="4023360" cy="33918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75982"/>
            <a:ext cx="3931920" cy="330039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EX-2 drawing with all holes, rectangles and polygons placed to the sheet dimensions.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CIRCLE (Cen-Rad, 2P, 3P, TTR), RECTANG, POLYGON, object snaps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ex2.dwg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Circles, Rectangles and Polygons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circle's centre and radius match the sheet (use LIST), the hexagon has 6 equal sides, and your drawing overlays ex2.dwg cleanly.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Polylines, Arcs, Ellipses and Splines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Draw practice drawing EX-3 combining polylines with arc segments, standalone arcs, an ellipse and a spline, plus construction lines to project feature positions between views.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490133"/>
            <a:ext cx="4023360" cy="247209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35853"/>
            <a:ext cx="3931920" cy="238065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EX-3 drawing with mixed line/arc geometry drawn as clean, connected objects.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PLINE (Arc mode), ARC, ELLIPSE, SPLINE, XLINE, POINT/DIVIDE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ex3.dwg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Polylines, Arcs, Ellipses and Splines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outline is a single polyline (one object when selected), arcs and the ellipse match the sheet dimensions, and no construction lines remain in the final drawing.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2D Isometric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Use ISODRAFT to create a 2D isometric representation of the 3D object supplied in iso-object.dwg, switching isoplanes and drawing isocircles for the round features.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198166"/>
            <a:ext cx="4023360" cy="3056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so-o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43886"/>
            <a:ext cx="3931920" cy="296458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flat isometric drawing of the 3D object — edges on the three isoplanes plus isocircle holes.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ISODRAFT, isoplanes (F5), ELLIPSE Isocircle, polar tracking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iso-object.dwg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2D Isometric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face lies on the correct isoplane (edges at 30°/90°/150°), the isocircles read as ellipses aligned to their faces, and the drawing matches the supplied object's proportions.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Technical Drawing with AutoCAD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2 — Creating Lines and Coordinates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EX-1 profile drawn to size, matching the supplied solution DWG.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3 — Circles, Rectangles and Polygons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EX-2 drawing with all holes, rectangles and polygons placed to the sheet dimensions.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4 — Polylines, Arcs, Ellipses and Splines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EX-3 drawing with mixed line/arc geometry drawn as clean, connected objects.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5 — 2D Isometric Drawing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flat isometric drawing of the 3D object — edges on the three isoplanes plus isocircle holes.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Modifying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Move · Copy · Rotate · Offset · Mirror · Trim · Fillet · Arrays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Modifying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Relocate &amp; duplicate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MOVE, COPY and ROTATE reposition objects from a base point to a second point or angle.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Offset &amp; mirror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OFFSET creates parallel copies at a set distance; MIRROR reflects half a symmetric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Trim &amp; extend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Quick and Standard modes cut objects back to, or extend them to meet, boundary edges.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Fillet &amp; chamfer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FILLET rounds a corner with a radius; CHAMFER bevels it with distances or an angle.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Arrays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Rectangular, polar and path arrays distribute copies in rows/columns, around a centre, or along a curve.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Stretch, scale &amp; explode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STRETCH lengthens with a crossing window; SCALE resizes about a base point; EXPLODE breaks compounds.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Relocating and Duplicating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MOVE (M)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objects, pick a base point, then the second point — the objects relocate exactly.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COPY (CO)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Same flow as MOVE but leaves the original; Multiple mode places copy after copy.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ROTATE (RO)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Rotate about a base point by an absolute angle, or use Reference to match geometry.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OFFSET (O)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Creates concentric circles, parallel lines and parallel curves at a set distance.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Offset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Specify the offset distance, select the object, then click the side to offset to.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Through mode offsets through a picked point instead of a distance.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Offset polylines keep their corners; circles offset concentrically.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Wall outlines, slots and rims are all one offset away from their centreline.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881771"/>
            <a:ext cx="4846320" cy="214601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5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27491"/>
            <a:ext cx="4754880" cy="20545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Mirror, Stretch and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MIRROR (MI)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Draw half of a symmetric design, then reflect it across a two-point mirror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STRETCH (S)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with a crossing window; endpoints inside move, the rest stay anchored.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SCALE (SC)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Resize about a base point by factor — or Reference to hit an exact length.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Grips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first, then drag grips to stretch/move without any command.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Trim and Extend — Two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Quick mode (default)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Standard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Select the objects to be trimmed or extended, one by one or by dragging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All visible geometry acts as the cutting/boundary edge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Fastest for everyday cleanup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First select boundary edges, press Enter, then select objects to trim/extend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Press Enter at the first prompt to make everything a boundary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Precise control for crowded drawings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Arrays — Rectangular, Polar and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ARRAY creates copies arranged in a pattern — associative by default.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Rectangular: rows, columns and levels with set spacing.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Polar: evenly distributes copies around a centre point or axis.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Path: distributes copies along a line, polyline or curve.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89665" y="1874520"/>
            <a:ext cx="3251470" cy="4160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6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385" y="1920240"/>
            <a:ext cx="3160030" cy="40690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Fillet and Chamfer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FILLET rounds the corner between two objects with a set radius.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Enter r (Radius) first to change the current fillet radius.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CHAMFER bevels a corner using two distances or a distance and angle.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Radius 0 / distance 0 are quick ways to square off a corner exactly.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154094"/>
            <a:ext cx="4846320" cy="16013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7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199814"/>
            <a:ext cx="4754880" cy="15099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MODIFY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Erase, Explode, Break, Divide and Measure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ERASE (E)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selected objects — or select first and press Delete.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EXPLODE (X)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Break a compound object (polyline, block, array) into components.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BREAK / Break at Point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Split lines, open polylines and arcs at one or two points.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DIVIDE · MEASURE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point nodes at equal counts (DIVIDE) or set intervals (MEASURE).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Modifying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Move, Copy, Rotate and Offset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Trim, Extend, Fillet and Chamfer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Mirror, Stretch, Scale and Arrays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Move, Copy, Rotate and Offset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Build practice drawing EX-4 by drawing one feature and then positioning the rest with MOVE, COPY (multiple), ROTATE with reference angle and OFFSET for the parallel profiles.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1955581"/>
            <a:ext cx="4023360" cy="354119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01301"/>
            <a:ext cx="3931920" cy="344975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EX-4 drawing produced with modify commands rather than re-drawing each feature.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MOVE, COPY (Multiple/Array), ROTATE (Reference), OFFSET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ex4.dwg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Move, Copy, Rotate and Offset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Feature spacings measure correct with DIST, offsets are at the specified distances, and the rotated feature sits at exactly the sheet's angle.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Trim, Extend, Fillet and Chamfer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Complete practice drawing EX-5 by trimming overlapping construction geometry, extending short edges to their boundaries, and finishing corners with fillets and chamfers.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570935"/>
            <a:ext cx="4023360" cy="231048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16655"/>
            <a:ext cx="3931920" cy="221904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clean EX-5 profile with every corner finished exactly as dimensioned on the sheet.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TRIM (Quick/Standard), EXTEND, FILLET, CHAMFER, BREAK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ex5.dwg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Trim, Extend, Fillet and Chamfer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overshooting or dangling segments remain (zoom around the whole profile), and every fillet radius / chamfer distance matches the drawing sheet.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Mirror, Stretch, Scale and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Produce practice drawing EX-6 with mirror, stretch, scale and arrays, then inspect the supplied sawblade drawing to reverse-engineer a production polar-array pattern.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269992"/>
            <a:ext cx="4023360" cy="29123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15712"/>
            <a:ext cx="3931920" cy="282093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completed EX-6 drawing plus a verified sawblade polar array with the correct centre, item count, fill angle and associative state.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MIRROR, STRETCH (crossing window), SCALE (Reference), ARRAYRECT, ARRAYPOLAR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ex6.dwg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Mirror, Stretch, Scale and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two halves are symmetric, array counts and spacings match the sheet, the slot length is correct, and you can explain the four defining properties of the sawblade polar array.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Modifying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6 — Move, Copy, Rotate and Offset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EX-4 drawing produced with modify commands rather than re-drawing each feature.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7 — Trim, Extend, Fillet and Chamfer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clean EX-5 profile with every corner finished exactly as dimensioned on the sheet.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8 — Mirror, Stretch, Scale and Arrays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completed EX-6 drawing plus a verified sawblade polar array with the correct centre, item count, fill angle and associative state.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Organizing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Object Properties · Layers · Blocks, Attributes &amp; Reusable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Organizing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 properties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Colour, linetype and lineweight — set ByLayer and inspected in the Properties palette (PR).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Layers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primary method of organising a drawing by function; control on/off, freeze/thaw, lock and plot.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Grips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Multi-functional grips stretch, move, rotate, scale and copy objects without typing a command.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Hide &amp; isolate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Temporarily isolate the objects you are working on and hide the rest of the drawing.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Blocks &amp; attributes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Blocks are reusable symbols; attributes attach part numbers and data — the basis of part lists.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External references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Xrefs attach another drawing (or PDF underlay) so teams share one live reference file.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Properties and the Properties Palette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Home tab's Layers and Properties panels set the most common properties.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Properties palette (PR / Ctrl+1) is the complete list for any selection.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With nothing selected it shows — and sets — the current defaults.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Keep colour, linetype and lineweight ByLayer so layers stay in control.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67184" y="1874520"/>
            <a:ext cx="2296431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8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904" y="1920240"/>
            <a:ext cx="2204991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Layers — Organising Every Drawing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Layers organise objects by function: outlines, hidden lines, centrelines, text, dimensions.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Layer Properties Manager creates layers and sets colour, linetype, lineweight and plot.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All new objects are drawn on the current layer (green tick).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Off vs freeze: frozen layers are skipped entirely and speed up big drawings; lock to view but not edit.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89253"/>
            <a:ext cx="4846320" cy="17310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81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134973"/>
            <a:ext cx="4754880" cy="16396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Hide and Isolate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Isolate Selected Objects hides everything except your selection.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Hide Selected Objects removes just the selection from view.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Both are temporary view states — End Object Isolation restores all.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Right-click menu or the status-bar lightbulb icon controls isolation.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287580"/>
            <a:ext cx="4846320" cy="333439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85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33300"/>
            <a:ext cx="4754880" cy="32429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DIRECT EDITING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Multi-Functional Grips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with no command running and grips appear at defining points.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Drag a grip to stretch; press Enter to cycle Stretch → Move → Rotate → Scale → Mirror.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Hover a grip for its multi-function menu (e.g. add vertex, convert to arc).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Lines, polylines, arcs, dimensions and viewports all expose smart grips.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902982"/>
            <a:ext cx="4846320" cy="21035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8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48702"/>
            <a:ext cx="4754880" cy="20121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REUSABLE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Blocks, Dynamic Blocks and Attributes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BLOCK combines objects into a named, reusable symbol inserted with INSERT.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Dynamic blocks add parameters and actions — one block, many sizes/states.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Attributes attach data to a block: part numbers, descriptions, quantities.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ATTDEF defines the tag, prompt and default; DATAEXTRACTION turns attributes into part-list tables.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723232"/>
            <a:ext cx="4846320" cy="246309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2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68952"/>
            <a:ext cx="4754880" cy="23716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REUSABLE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References (Xrefs)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 xref attaches another drawing file into the current drawing — live, not copied.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External References palette organises, reloads and repaths every reference.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Teams share one title block or site plan; edits flow to every host on reload.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PDFs and images attach the same way as underlays for tracing.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41541"/>
            <a:ext cx="4846320" cy="182647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3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087261"/>
            <a:ext cx="4754880" cy="17350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Organizing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9–10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Object Properties and Layers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Grips, Hide and Isolate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Blocks, Attributes and Part Lists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External References and PDF Import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Properties and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standards-based layer scheme in lab-table-lesson2.dwg, then audit the supplied office-plan-ground-floor.dwg to see how a larger architectural drawing separates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layered table drawing where every object is ByLayer, plus a five-layer audit of the office plan covering naming, colour, linetype, lineweight and plot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LAYER (LA), Properties palette (PR), Layer Walk, MATCHPROP, freeze/thaw, lock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lab-table-lesson2.dwg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 Properties and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Turning each layer off hides exactly its objects, everything in table-layers.dwg reports ByLayer, and the office-plan audit identifies five layers with their intended functions.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Grips, Hide and Isolate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Use multi-functional grips on EX-7, then practise isolate, hide, select-similar and end-isolate in the denser new-office-design.dwg without losing or deleting objects.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2226403"/>
            <a:ext cx="4023360" cy="29995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72123"/>
            <a:ext cx="3931920" cy="290811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 edited EX-7 layout plus a saved office-plan view in which the targeted object class was isolated, edited and fully restored.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Multi-functional grips, grip modes (Enter to cycle), Isolate/Hide Objects, Select Similar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ex7.dwg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Grips, Hide and Isolate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stretch, move, rotate and copy with grips alone; after UNISOLATEOBJECTS, the office drawing's object count and layer visibility match the starting state except for your saved edit.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Blocks, Attributes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Inspect a reusable block library and a drawing containing dynamic blocks, then define a part-tag block with attributes and prepare its data for the part list.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BALLOON block with PART_NO / DESC / QTY attributes, plus evidence that one library block and one dynamic-block state can be inserted and edited correctly.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BLOCK, WBLOCK, DesignCenter, ATTDEF, INSERT, ATTEDIT, dynamic-block grips, DATAEXTRACTION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title-block.dwg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Blocks, Attributes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library block inserts at the correct scale, the dynamic state changes without exploding, and Data Extraction lists one row per BALLOON with the values you entered.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References and PDF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Repair and verify the relative Landscaping_REV1 Xref in the supplied office-layout host, then attach a title block and a PDF underlay and import vector geometry.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host drawing whose landscaping Xref resolves from the lab folder, with an additional live title-block Xref and an imported PDF geometry sample.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XREF/ATTACH, External References palette, PDFATTACH, PDFIMPORT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title-block.dwg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 References and PDF Import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Xrefs show Loaded, Landscaping_REV1 uses a relative path and survives reopening the folder elsewhere, while PDFIMPORT produces editable AutoCAD objects from the underlay.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Organizing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9 — Object Properties and Layers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layered table drawing where every object is ByLayer, plus a five-layer audit of the office plan covering naming, colour, linetype, lineweight and plot 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10 — Grips, Hide and Isolate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edited EX-7 layout plus a saved office-plan view in which the targeted object class was isolated, edited and fully restored.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11 — Blocks, Attributes and Part Lists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BALLOON block with PART_NO / DESC / QTY attributes, plus evidence that one library block and one dynamic-block state can be inserted and edited correctly.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12 — External References and PDF Import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host drawing whose landscaping Xref resolves from the lab folder, with an additional live title-block Xref and an imported PDF geometry sample.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Design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Text · Dimensions · Tables &amp; Part Lists · Layouts, Viewports &amp; Plotting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Design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Text &amp; text styles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Single-line and multiline text; a text style controls font, height and justification centrally.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Dimensions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Linear, aligned, angular, radial, diameter, ordinate and arc-length dimensions annotate real sizes.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Dimension styles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named collection of settings — arrowheads, text placement, tolerances — applied consistently.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Multileaders &amp; clouds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Multileaders point notes at features; revision clouds flag changed areas for checking.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Tables &amp; part lists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TABLE creates row/column data such as bills of materials extracted from block attributes.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Layouts &amp; plotting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Scaled viewports on a titled layout sheet, printed with PLOT or published to PDF/DWF.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 and Text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Multiline text (MTEXT) fills a bounding box; single-line text (TEXT) is quick labels.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text style names a collection of settings: font, height, spacing, justification.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styles once (STYLE) and every note updates when the style changes.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Annotative styles size text automatically to the viewport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747802"/>
            <a:ext cx="4846320" cy="24139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93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93522"/>
            <a:ext cx="4754880" cy="23225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Dimensions — The Basic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Linear and aligned dimensions measure edges; angular measures between lines.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Radial and diameter dimensions measure arcs and circles, with centre marks.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Arc-length and ordinate dimensions cover curved lengths and datum offsets.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Continue chains dimensions end-to-end; Baseline stacks them from one datum.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707277"/>
            <a:ext cx="4846320" cy="249500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09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752997"/>
            <a:ext cx="4754880" cy="24035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 a style controls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Arrowheads, extension lines, text placement, units and tolerances — consistently.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Create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DIMSTYLE → New: name it, set fit, text height and precision for your standard.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the style current before dimensioning; existing dimensions can be updated.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House rule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Never override individual dimension text — fix the style instead.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Multileaders and Revision Clouds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multileader is an arrowhead, landing line and note text (or block) in one object.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MLEADER places it; add/remove leader lines and align multiple leaders neatly.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Revision clouds flag changed areas for checking and approval.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Draw a cloud by dragging, corner points — or convert an existing closed object.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3087498"/>
            <a:ext cx="4846320" cy="17345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0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133218"/>
            <a:ext cx="4754880" cy="16431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PART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Tables and Part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TABLE creates a compound object of rows and columns from a table style.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Type into cells like a spreadsheet; formulas and fields are supported.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DATAEXTRACTION fills a table from block attributes — the bill of materials.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Tables can link to external Excel data and update both ways.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282743"/>
            <a:ext cx="4846320" cy="334407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06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28463"/>
            <a:ext cx="4754880" cy="32526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Layouts and Viewports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layout is the 2D sheet environment: title block, viewports, annotation.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MVIEW creates layout viewports — windows into model space.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Set each viewport's scale exactly (e.g. 1:20), then lock it against accidental zooming.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One model, many sheets: each layout composes its own views and scales.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534279"/>
            <a:ext cx="4846320" cy="28410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0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579999"/>
            <a:ext cx="4754880" cy="27495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Plotting and Printing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Plot from the layout: choose plotter, paper size, plot area, scale and orientation.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DWG To PDF.pc3 publishes the standard submission PDF.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Page setups save the configuration per layout and import between drawings.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Preview before plotting — check lineweights, scale and the full sheet.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2145557"/>
            <a:ext cx="4846320" cy="36184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1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91277"/>
            <a:ext cx="4754880" cy="35270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Hatching and Gradients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HATCH fills enclosed areas with patterns (ANSI31 for sections), solids or gradients.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Pick an internal point — island detection keeps text and holes clear.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Scale and angle make adjacent parts read distinctly in section views.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HATCHEDIT changes an existing hatch; hatches stay associative to their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783080"/>
            <a:ext cx="5029200" cy="4343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76926" y="1874520"/>
            <a:ext cx="327694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32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646" y="1920240"/>
            <a:ext cx="3185508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Design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13–14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Text and Text Styles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Dimensions, Multileaders and Part-List 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Hatching and Detail Finishing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Layouts, Viewports and Plotting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 and Text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Annotate the layered table drawing with single-line and multiline text, create and apply text styles for titles and notes, and fill in the title-block fields.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 annotated drawing with consistent TITLE and NOTES text styles and a completed title block.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TEXT, MTEXT, STYLE, annotative text, SPELL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lab-table-lesson2.dwg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Text and Text Styles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annotation uses your named styles (none on Standard), the title block is complete, and changing the NOTES style font updates every note at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Dimensions, Multileaders and Part-List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309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Fully dimension practice drawing EX-8 with a metric dimension style — linear, aligned, radial, diameter, angular, continue and baseline — add multileader callouts, and create the part-list table from the Lab 11 balloon attributes.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691640"/>
            <a:ext cx="4114800" cy="4069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89335" y="1737360"/>
            <a:ext cx="2766529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x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055" y="1783080"/>
            <a:ext cx="2675089" cy="3886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4023360"/>
            <a:ext cx="630936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fully dimensioned EX-8 sheet with leader notes and a parts table (part no · description · qty).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85232"/>
            <a:ext cx="5852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DIMSTYLE, DIM, DLI/DAL/DRA/DDI/DAN, DCO/DBA, MLEADER, TABLE, DATAEXTRACTION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ex8.dwg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Dimensions, Multileaders and Part-List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dimension on the EX-8 sheet is reproduced with the MECH-25 style (no overridden text), leaders land neatly, and the table rows match the balloons one-for-one.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Hatching and Detail Finishing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Apply section hatching with controlled boundaries and islands, then compare two supplied landscaping revisions and mark the changed area with a revision cloud and note.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correctly hatched section view plus a documented landscaping revision showing the changed geometry, revision cloud and concise change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HATCH, gradient fills, boundary/island detection, HATCHEDIT, DWG Compare, REVCLOUD, MLEADER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ex3.dwg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Hatching and Detail Finishing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Hatches do not bleed, adjacent parts use distinct angles, islands remain clear, and the landscaping review identifies every revision with one cloud and one readable note.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Layouts, Viewports and Plotting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Audit the supplied new-office-layout.dwg, then compose an A3 layout with a title block, locked scaled viewports and a standards-compliant PDF plot.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23360"/>
            <a:ext cx="10698480" cy="1965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241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print-ready A3 office layout with two locked viewports, completed title information, verified lineweights and a plotted PDF.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852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5B6372"/>
                </a:solidFill>
                <a:latin typeface="Arial"/>
              </a:rPr>
              <a:t>Commands:  </a:t>
            </a:r>
            <a:r>
              <a:rPr sz="1150" b="0">
                <a:solidFill>
                  <a:srgbClr val="5B6372"/>
                </a:solidFill>
                <a:latin typeface="Arial"/>
              </a:rPr>
              <a:t>LAYOUT, PAGESETUP, MVIEW, viewport scale/lock, PLOT, DWG to PDF.pc3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Files: title-block.dwg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Layouts, Viewports and Plotting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Check your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Both viewports report their exact scales in the status bar and cannot be zoomed when locked, and the plotted PDF shows the complete titled sheet at A3.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Design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13 — Text and Text Styles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annotated drawing with consistent TITLE and NOTES text styles and a completed title block.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14 — Dimensions, Multileaders and Part-List Tables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fully dimensioned EX-8 sheet with leader notes and a parts table (part no · description · qty).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15 — Hatching and Detail Finishing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correctly hatched section view plus a documented landscaping revision showing the changed geometry, revision cloud and concise change note.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16 — Layouts, Viewports and Plotting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print-ready A3 office layout with two locked viewports, completed title information, verified lineweights and a plotted PDF.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Getting started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Navigated the AutoCAD UI, workspaces, units and precision drafting aids.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Technical drawing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Produced accurate 2D drawings and isometric views from dimensioned sheets.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Modifying objects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designs efficiently with move/copy, offset, trim, fillet and arrays.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Organizing objects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Structured drawings with layers, blocks, attributes and external references.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Design documentation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Dimensioned, annotated, tabulated part lists and plotted submission-ready sheets.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Next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Architecture Drawing with Revit</a:t>
            </a:r>
          </a:p>
          <a:p>
            <a:r>
              <a:rPr sz="1600" b="1">
                <a:latin typeface="Arial"/>
              </a:rPr>
              <a:t>Tertiary Infotech Academy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Product Design with Fusion 360</a:t>
            </a:r>
          </a:p>
          <a:p>
            <a:r>
              <a:rPr sz="1600" b="1">
                <a:latin typeface="Arial"/>
              </a:rPr>
              <a:t>Tertiary Infotech Academy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AutoCAD Civil 3D for Infrastructure Design</a:t>
            </a:r>
          </a:p>
          <a:p>
            <a:r>
              <a:rPr sz="1600" b="1">
                <a:latin typeface="Arial"/>
              </a:rPr>
              <a:t>Tertiary Infotech Academy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Technical Drawing with AutoCAD Mechanical</a:t>
            </a:r>
          </a:p>
          <a:p>
            <a:r>
              <a:rPr sz="1600" b="1">
                <a:latin typeface="Arial"/>
              </a:rPr>
              <a:t>Tertiary Infotech Academy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Technical Drawing with AutoCAD Electrical</a:t>
            </a:r>
          </a:p>
          <a:p>
            <a:r>
              <a:rPr sz="1600" b="1">
                <a:latin typeface="Arial"/>
              </a:rPr>
              <a:t>Tertiary Infotech Academy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and after the class, contact us: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YOU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Please complete the course feedback form on the LMS — it helps us improve the course.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certificate of completion is issued on the LMS after the course.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Portal: 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DRAFTING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read, produce and document technical drawings with AutoCAD.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AutoCAD Masterclass  ·  C391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